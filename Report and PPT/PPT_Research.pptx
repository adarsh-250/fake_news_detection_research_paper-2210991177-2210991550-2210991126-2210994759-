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7" r:id="rId4"/>
    <p:sldId id="266" r:id="rId5"/>
    <p:sldId id="258" r:id="rId6"/>
    <p:sldId id="259" r:id="rId7"/>
    <p:sldId id="270" r:id="rId8"/>
    <p:sldId id="261" r:id="rId9"/>
    <p:sldId id="264" r:id="rId10"/>
  </p:sldIdLst>
  <p:sldSz cx="9753600" cy="7315200"/>
  <p:notesSz cx="97536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gTxnPD+aw2LrBypMl/CD7XQzv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" y="389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25925" y="548625"/>
            <a:ext cx="6502725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9ac01966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9ac019662_0_13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3000" cy="3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5925" y="548625"/>
            <a:ext cx="6502725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ubTitle" idx="1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 extrusionOk="0">
                <a:moveTo>
                  <a:pt x="9752456" y="893567"/>
                </a:moveTo>
                <a:lnTo>
                  <a:pt x="0" y="893567"/>
                </a:lnTo>
                <a:lnTo>
                  <a:pt x="0" y="0"/>
                </a:lnTo>
                <a:lnTo>
                  <a:pt x="9752456" y="0"/>
                </a:lnTo>
                <a:lnTo>
                  <a:pt x="9752456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0" y="7151615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 extrusionOk="0">
                <a:moveTo>
                  <a:pt x="9753218" y="163584"/>
                </a:moveTo>
                <a:lnTo>
                  <a:pt x="0" y="163584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"/>
          <p:cNvSpPr/>
          <p:nvPr/>
        </p:nvSpPr>
        <p:spPr>
          <a:xfrm>
            <a:off x="6556416" y="0"/>
            <a:ext cx="3197860" cy="894080"/>
          </a:xfrm>
          <a:custGeom>
            <a:avLst/>
            <a:gdLst/>
            <a:ahLst/>
            <a:cxnLst/>
            <a:rect l="l" t="t" r="r" b="b"/>
            <a:pathLst>
              <a:path w="3197859" h="894080" extrusionOk="0">
                <a:moveTo>
                  <a:pt x="3197297" y="893567"/>
                </a:moveTo>
                <a:lnTo>
                  <a:pt x="0" y="893567"/>
                </a:lnTo>
                <a:lnTo>
                  <a:pt x="0" y="0"/>
                </a:lnTo>
                <a:lnTo>
                  <a:pt x="3197297" y="0"/>
                </a:lnTo>
                <a:lnTo>
                  <a:pt x="3197297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8"/>
          <p:cNvSpPr/>
          <p:nvPr/>
        </p:nvSpPr>
        <p:spPr>
          <a:xfrm>
            <a:off x="6963071" y="203136"/>
            <a:ext cx="2213610" cy="731520"/>
          </a:xfrm>
          <a:custGeom>
            <a:avLst/>
            <a:gdLst/>
            <a:ahLst/>
            <a:cxnLst/>
            <a:rect l="l" t="t" r="r" b="b"/>
            <a:pathLst>
              <a:path w="2213609" h="731519" extrusionOk="0">
                <a:moveTo>
                  <a:pt x="2213399" y="731135"/>
                </a:moveTo>
                <a:lnTo>
                  <a:pt x="0" y="731135"/>
                </a:lnTo>
                <a:lnTo>
                  <a:pt x="0" y="0"/>
                </a:lnTo>
                <a:lnTo>
                  <a:pt x="2213399" y="0"/>
                </a:lnTo>
                <a:lnTo>
                  <a:pt x="2213399" y="7311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699281" y="1205126"/>
            <a:ext cx="8274271" cy="488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algn="ctr">
              <a:spcBef>
                <a:spcPts val="400"/>
              </a:spcBef>
            </a:pP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marL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On</a:t>
            </a:r>
            <a:endParaRPr lang="en-IN"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R="154305" lvl="0" algn="ctr">
              <a:lnSpc>
                <a:spcPct val="114411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on Social Media Platforms using NLP and PAC.</a:t>
            </a:r>
          </a:p>
          <a:p>
            <a:pPr marR="154305" lvl="0" algn="ctr">
              <a:lnSpc>
                <a:spcPct val="114411"/>
              </a:lnSpc>
            </a:pPr>
            <a:endParaRPr lang="en-US" sz="3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154305" lvl="0" indent="0" algn="ctr" rtl="0">
              <a:lnSpc>
                <a:spcPct val="11441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5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021839" marR="2014854" lvl="0" indent="-635" algn="ctr" rtl="0">
              <a:lnSpc>
                <a:spcPct val="101200"/>
              </a:lnSpc>
              <a:spcBef>
                <a:spcPts val="3075"/>
              </a:spcBef>
              <a:spcAft>
                <a:spcPts val="0"/>
              </a:spcAft>
              <a:buNone/>
            </a:pPr>
            <a:endParaRPr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Supervised By </a:t>
            </a: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Dr. Ajay Kumar</a:t>
            </a:r>
            <a:endParaRPr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284545" y="6091004"/>
            <a:ext cx="7103745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631950" marR="5080" lvl="0" indent="-1619885" algn="l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dirty="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Chitkara University, Punjab</a:t>
            </a:r>
            <a:endParaRPr sz="25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96B728-85DF-67ED-FC57-3331BFC67805}"/>
              </a:ext>
            </a:extLst>
          </p:cNvPr>
          <p:cNvSpPr txBox="1"/>
          <p:nvPr/>
        </p:nvSpPr>
        <p:spPr>
          <a:xfrm>
            <a:off x="2966769" y="3214603"/>
            <a:ext cx="458251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Adarsh Kumar Gupta(2210991177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Drishti Monga(2210991550)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Aastha (2210991126)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Ankita Bansal(2210994759)</a:t>
            </a:r>
          </a:p>
          <a:p>
            <a:endParaRPr lang="en-US"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title"/>
          </p:nvPr>
        </p:nvSpPr>
        <p:spPr>
          <a:xfrm>
            <a:off x="1" y="109377"/>
            <a:ext cx="6348548" cy="53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/>
            <a:r>
              <a:rPr lang="en-IN" dirty="0"/>
              <a:t>Introduction &amp; The Problem</a:t>
            </a:r>
            <a:endParaRPr dirty="0"/>
          </a:p>
        </p:txBody>
      </p:sp>
      <p:sp>
        <p:nvSpPr>
          <p:cNvPr id="59" name="Google Shape;59;p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body" idx="1"/>
          </p:nvPr>
        </p:nvSpPr>
        <p:spPr>
          <a:xfrm>
            <a:off x="199696" y="1537285"/>
            <a:ext cx="8877180" cy="370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The Problem:</a:t>
            </a:r>
            <a:r>
              <a:rPr lang="en-US" sz="2400" dirty="0"/>
              <a:t> The loss of traditional media gatekeepers has created an unchecked environment where manipulated information spreads easily.</a:t>
            </a:r>
          </a:p>
          <a:p>
            <a:pPr marL="5715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The Impact:</a:t>
            </a:r>
            <a:r>
              <a:rPr lang="en-US" sz="2400" dirty="0"/>
              <a:t> This widespread misinformation harms public trust, democratic elections, and social stability.</a:t>
            </a:r>
          </a:p>
          <a:p>
            <a:pPr marL="5715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The Challenge:</a:t>
            </a:r>
            <a:r>
              <a:rPr lang="en-US" sz="2400" dirty="0"/>
              <a:t> Information on social media moves so fast that manual human fact-checking will never be able to keep up with the volume.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D9B-48AD-9F2C-7C07-701ECA60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995" y="109377"/>
            <a:ext cx="5072853" cy="1046440"/>
          </a:xfrm>
        </p:spPr>
        <p:txBody>
          <a:bodyPr/>
          <a:lstStyle/>
          <a:p>
            <a:r>
              <a:rPr lang="en-IN" b="1" dirty="0"/>
              <a:t>Abstract &amp; Objectives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4C6A-020E-F11F-EDE8-57B0CE5FA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340" y="1594112"/>
            <a:ext cx="8952230" cy="3693319"/>
          </a:xfrm>
        </p:spPr>
        <p:txBody>
          <a:bodyPr/>
          <a:lstStyle/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Our Goal:</a:t>
            </a:r>
            <a:r>
              <a:rPr lang="en-US" sz="2400" dirty="0"/>
              <a:t> To build a machine learning framework that uses Natural Language Processing (NLP) to automatically identify and classify misleading news articles.</a:t>
            </a:r>
          </a:p>
          <a:p>
            <a:pPr marL="5715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The Data:</a:t>
            </a:r>
            <a:r>
              <a:rPr lang="en-US" sz="2400" dirty="0"/>
              <a:t> The model was trained and validated using the ISOT Fake News Dataset, which contains roughly 45,000 articles.</a:t>
            </a:r>
          </a:p>
          <a:p>
            <a:pPr marL="5715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The Requirement:</a:t>
            </a:r>
            <a:r>
              <a:rPr lang="en-US" sz="2400" dirty="0"/>
              <a:t> The developed system must be automated, highly scalable, and capable of operating at very high speeds in real-time.</a:t>
            </a:r>
          </a:p>
        </p:txBody>
      </p:sp>
    </p:spTree>
    <p:extLst>
      <p:ext uri="{BB962C8B-B14F-4D97-AF65-F5344CB8AC3E}">
        <p14:creationId xmlns:p14="http://schemas.microsoft.com/office/powerpoint/2010/main" val="132349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A7DF-8896-9A72-F43E-78BE30A25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00" y="116727"/>
            <a:ext cx="3569335" cy="1046440"/>
          </a:xfrm>
        </p:spPr>
        <p:txBody>
          <a:bodyPr/>
          <a:lstStyle/>
          <a:p>
            <a:r>
              <a:rPr lang="en-IN" dirty="0"/>
              <a:t>Methodology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7C3DB-7E5B-157B-6928-EF57E5004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009" y="1462207"/>
            <a:ext cx="8617784" cy="4062651"/>
          </a:xfrm>
        </p:spPr>
        <p:txBody>
          <a:bodyPr/>
          <a:lstStyle/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Data Preprocessing:</a:t>
            </a:r>
            <a:r>
              <a:rPr lang="en-US" sz="2400" dirty="0"/>
              <a:t> We cleaned the raw text by removing noise (like URLs and punctuation), converting it to lowercase, creating tokens, and dropping meaningless stop words.</a:t>
            </a:r>
          </a:p>
          <a:p>
            <a:pPr marL="5715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Feature Extraction:</a:t>
            </a:r>
            <a:r>
              <a:rPr lang="en-US" sz="2400" dirty="0"/>
              <a:t> We used Term Frequency-Inverse Document Frequency (TF-IDF) to convert the cleaned text into a numerical vector format.</a:t>
            </a:r>
          </a:p>
          <a:p>
            <a:pPr marL="228600" indent="0" algn="just"/>
            <a:endParaRPr lang="en-US" sz="2400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Classification:</a:t>
            </a:r>
            <a:r>
              <a:rPr lang="en-US" sz="2400" dirty="0"/>
              <a:t> These numerical vectors were then fed into our core predictive framework, the Passive Aggressive Classifier (PAC).</a:t>
            </a:r>
          </a:p>
        </p:txBody>
      </p:sp>
    </p:spTree>
    <p:extLst>
      <p:ext uri="{BB962C8B-B14F-4D97-AF65-F5344CB8AC3E}">
        <p14:creationId xmlns:p14="http://schemas.microsoft.com/office/powerpoint/2010/main" val="3297129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372375" y="109377"/>
            <a:ext cx="6448839" cy="68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12700" lvl="0"/>
            <a:r>
              <a:rPr lang="en-IN" dirty="0"/>
              <a:t>Why Passive Aggressive Classifier?</a:t>
            </a:r>
            <a:endParaRPr dirty="0"/>
          </a:p>
        </p:txBody>
      </p:sp>
      <p:sp>
        <p:nvSpPr>
          <p:cNvPr id="66" name="Google Shape;66;p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67" name="Google Shape;67;p3"/>
          <p:cNvSpPr txBox="1"/>
          <p:nvPr/>
        </p:nvSpPr>
        <p:spPr>
          <a:xfrm>
            <a:off x="400685" y="1391638"/>
            <a:ext cx="8952230" cy="407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Approach: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requiring the entire dataset at once (batch-learning), it processes new data sequentially, one piece at a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Adaptation: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algorithm stays passive and keeps its weights the same when it predicts correctly, but aggressively updates its weights to learn from its mistakes.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Efficiency: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it learns instance-by-instance, it doesn't need to load all 44,000+ articles into RAM at once, eliminating memory performance issues.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1" y="109377"/>
            <a:ext cx="5501848" cy="120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/>
            <a:r>
              <a:rPr lang="en-IN" b="1" dirty="0"/>
              <a:t>Advantages &amp; Results</a:t>
            </a:r>
            <a:br>
              <a:rPr lang="en-IN" dirty="0"/>
            </a:br>
            <a:endParaRPr dirty="0"/>
          </a:p>
        </p:txBody>
      </p:sp>
      <p:sp>
        <p:nvSpPr>
          <p:cNvPr id="73" name="Google Shape;73;p4"/>
          <p:cNvSpPr txBox="1"/>
          <p:nvPr/>
        </p:nvSpPr>
        <p:spPr>
          <a:xfrm>
            <a:off x="276058" y="1119712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457200" marR="8890" lvl="0" indent="-36195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4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4042C-70E0-0843-5F98-BCC86D2AC9B8}"/>
              </a:ext>
            </a:extLst>
          </p:cNvPr>
          <p:cNvSpPr txBox="1"/>
          <p:nvPr/>
        </p:nvSpPr>
        <p:spPr>
          <a:xfrm>
            <a:off x="276058" y="1482579"/>
            <a:ext cx="934806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Exceptional Accuracy: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PAC model achieved an overall test accuracy of 99.59%.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Reliability: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recorded an F1-Score of 99.56%, demonstrating an exceedingly low rate of false positives and false negatives.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 Speed: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achieves this high level of prediction capability while utilizing far less processing time and computer resources compared to Support Vector Machines (SVM) or Deep Learning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2DAC-5865-09BF-DF51-D8A1090FF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513" y="109377"/>
            <a:ext cx="3569335" cy="523220"/>
          </a:xfrm>
        </p:spPr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82142-CED3-C04C-49F1-6B3AB099F1D7}"/>
              </a:ext>
            </a:extLst>
          </p:cNvPr>
          <p:cNvSpPr txBox="1"/>
          <p:nvPr/>
        </p:nvSpPr>
        <p:spPr>
          <a:xfrm>
            <a:off x="451943" y="1387367"/>
            <a:ext cx="87235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Detection: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Expanding the architecture to analyze manipulated images, out-of-context videos, and deepfakes alongside the text.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Upgrading the preprocessing pipeline to detect fake linguistic markers in regional and non-English languages.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Packaging the lightweight algorithm into a browser extension or mobile app using Edge Computing to give users real-time alerts.</a:t>
            </a:r>
          </a:p>
        </p:txBody>
      </p:sp>
    </p:spTree>
    <p:extLst>
      <p:ext uri="{BB962C8B-B14F-4D97-AF65-F5344CB8AC3E}">
        <p14:creationId xmlns:p14="http://schemas.microsoft.com/office/powerpoint/2010/main" val="1980260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9ac019662_0_13"/>
          <p:cNvSpPr txBox="1">
            <a:spLocks noGrp="1"/>
          </p:cNvSpPr>
          <p:nvPr>
            <p:ph type="title"/>
          </p:nvPr>
        </p:nvSpPr>
        <p:spPr>
          <a:xfrm>
            <a:off x="2839370" y="141825"/>
            <a:ext cx="2090400" cy="5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dirty="0"/>
              <a:t>Conclusion</a:t>
            </a:r>
            <a:endParaRPr dirty="0"/>
          </a:p>
        </p:txBody>
      </p:sp>
      <p:sp>
        <p:nvSpPr>
          <p:cNvPr id="86" name="Google Shape;86;g319ac019662_0_13"/>
          <p:cNvSpPr txBox="1">
            <a:spLocks noGrp="1"/>
          </p:cNvSpPr>
          <p:nvPr>
            <p:ph type="body" idx="1"/>
          </p:nvPr>
        </p:nvSpPr>
        <p:spPr>
          <a:xfrm>
            <a:off x="400650" y="1485330"/>
            <a:ext cx="8952300" cy="2954655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685800" indent="-457200" algn="just">
              <a:buFont typeface="Arial" panose="020B0604020202020204" pitchFamily="34" charset="0"/>
              <a:buChar char="•"/>
            </a:pPr>
            <a:r>
              <a:rPr lang="en-US" sz="2400" b="1" dirty="0"/>
              <a:t>Summary:</a:t>
            </a:r>
            <a:r>
              <a:rPr lang="en-US" sz="2400" dirty="0"/>
              <a:t> Combining TF-IDF feature extraction with an online margin-based classifier creates a highly scalable and low-latency framework.</a:t>
            </a:r>
          </a:p>
          <a:p>
            <a:pPr marL="685800" indent="-4572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685800" indent="-457200" algn="just">
              <a:buFont typeface="Arial" panose="020B0604020202020204" pitchFamily="34" charset="0"/>
              <a:buChar char="•"/>
            </a:pPr>
            <a:r>
              <a:rPr lang="en-US" sz="2400" b="1" dirty="0"/>
              <a:t>Final Impact:</a:t>
            </a:r>
            <a:r>
              <a:rPr lang="en-US" sz="2400" dirty="0"/>
              <a:t> This system provides a practical way to perform continuous, real-time fake news detection to protect the digital ecosystem without needing massive amounts of computing resources.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>
            <a:off x="3137882" y="2901732"/>
            <a:ext cx="3644900" cy="903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50"/>
              <a:t>Thank You</a:t>
            </a:r>
            <a:endParaRPr sz="5750"/>
          </a:p>
        </p:txBody>
      </p:sp>
      <p:sp>
        <p:nvSpPr>
          <p:cNvPr id="106" name="Google Shape;106;p7"/>
          <p:cNvSpPr txBox="1"/>
          <p:nvPr/>
        </p:nvSpPr>
        <p:spPr>
          <a:xfrm>
            <a:off x="9074494" y="6801811"/>
            <a:ext cx="112395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25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562</Words>
  <Application>Microsoft Office PowerPoint</Application>
  <PresentationFormat>Custom</PresentationFormat>
  <Paragraphs>58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Trebuchet MS</vt:lpstr>
      <vt:lpstr>Office Theme</vt:lpstr>
      <vt:lpstr>PowerPoint Presentation</vt:lpstr>
      <vt:lpstr>Introduction &amp; The Problem</vt:lpstr>
      <vt:lpstr>Abstract &amp; Objectives</vt:lpstr>
      <vt:lpstr>Methodology </vt:lpstr>
      <vt:lpstr>Why Passive Aggressive Classifier?</vt:lpstr>
      <vt:lpstr>Advantages &amp; Results </vt:lpstr>
      <vt:lpstr>Future Scope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Kalash Amrendra</dc:creator>
  <cp:lastModifiedBy>Adarsh Kumar Gupta</cp:lastModifiedBy>
  <cp:revision>7</cp:revision>
  <dcterms:created xsi:type="dcterms:W3CDTF">2024-10-02T17:36:18Z</dcterms:created>
  <dcterms:modified xsi:type="dcterms:W3CDTF">2026-04-28T18:09:00Z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2024-08-03T00:00:00Z</vt:filetime>
  </property>
  <property fmtid="{D5CDD505-2E9C-101B-9397-08002B2CF9AE}" pid="3" name="Creator">
    <vt:lpwstr>Canva</vt:lpwstr>
  </property>
  <property fmtid="{D5CDD505-2E9C-101B-9397-08002B2CF9AE}" pid="4" name="LastSaved">
    <vt:filetime>2024-10-02T00:00:00Z</vt:filetime>
  </property>
  <property fmtid="{D5CDD505-2E9C-101B-9397-08002B2CF9AE}" pid="5" name="Producer">
    <vt:lpwstr>Canva</vt:lpwstr>
  </property>
</Properties>
</file>